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bril Fatface" charset="0"/>
      <p:regular r:id="rId19"/>
    </p:embeddedFont>
    <p:embeddedFont>
      <p:font typeface="Calibri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-81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8521" y="4616897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0" y="0"/>
                </a:moveTo>
                <a:lnTo>
                  <a:pt x="8476180" y="0"/>
                </a:lnTo>
                <a:lnTo>
                  <a:pt x="84761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719870" y="5353178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58985" y="8731697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23597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542641" y="223807"/>
            <a:ext cx="9352583" cy="4919693"/>
          </a:xfrm>
          <a:custGeom>
            <a:avLst/>
            <a:gdLst/>
            <a:ahLst/>
            <a:cxnLst/>
            <a:rect l="l" t="t" r="r" b="b"/>
            <a:pathLst>
              <a:path w="9352583" h="4919693">
                <a:moveTo>
                  <a:pt x="0" y="0"/>
                </a:moveTo>
                <a:lnTo>
                  <a:pt x="9352583" y="0"/>
                </a:lnTo>
                <a:lnTo>
                  <a:pt x="9352583" y="4919693"/>
                </a:lnTo>
                <a:lnTo>
                  <a:pt x="0" y="4919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846" b="-184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640894" y="0"/>
            <a:ext cx="4647106" cy="2323553"/>
          </a:xfrm>
          <a:custGeom>
            <a:avLst/>
            <a:gdLst/>
            <a:ahLst/>
            <a:cxnLst/>
            <a:rect l="l" t="t" r="r" b="b"/>
            <a:pathLst>
              <a:path w="4647106" h="2323553">
                <a:moveTo>
                  <a:pt x="0" y="0"/>
                </a:moveTo>
                <a:lnTo>
                  <a:pt x="4647106" y="0"/>
                </a:lnTo>
                <a:lnTo>
                  <a:pt x="4647106" y="2323553"/>
                </a:lnTo>
                <a:lnTo>
                  <a:pt x="0" y="23235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49085" y="4493072"/>
            <a:ext cx="6539695" cy="117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3"/>
              </a:lnSpc>
            </a:pPr>
            <a:r>
              <a:rPr lang="en-US" sz="6923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DATA BASE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920431" y="5803431"/>
            <a:ext cx="20278728" cy="973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5"/>
              </a:lnSpc>
              <a:spcBef>
                <a:spcPct val="0"/>
              </a:spcBef>
            </a:pPr>
            <a:r>
              <a:rPr lang="en-US" sz="49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Digitalizing the Ethio-MicroLend organization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22714" y="8835390"/>
            <a:ext cx="375742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Presented by Group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14411" y="5143500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0" y="0"/>
                </a:moveTo>
                <a:lnTo>
                  <a:pt x="8476180" y="0"/>
                </a:lnTo>
                <a:lnTo>
                  <a:pt x="84761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120207" y="4586942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95778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49094" y="1028700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312962" y="2320151"/>
            <a:ext cx="13936132" cy="5646697"/>
            <a:chOff x="0" y="0"/>
            <a:chExt cx="18581510" cy="7528930"/>
          </a:xfrm>
        </p:grpSpPr>
        <p:sp>
          <p:nvSpPr>
            <p:cNvPr id="7" name="TextBox 7"/>
            <p:cNvSpPr txBox="1"/>
            <p:nvPr/>
          </p:nvSpPr>
          <p:spPr>
            <a:xfrm>
              <a:off x="0" y="-123825"/>
              <a:ext cx="6956130" cy="1473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07"/>
                </a:lnSpc>
              </a:pPr>
              <a:r>
                <a:rPr lang="en-US" sz="6648">
                  <a:solidFill>
                    <a:srgbClr val="FFFFFF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Group Name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42952"/>
              <a:ext cx="18216101" cy="6885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64"/>
                </a:lnSpc>
              </a:pPr>
              <a:endParaRPr/>
            </a:p>
            <a:p>
              <a:pPr marL="904466" lvl="1" indent="-452233" algn="l">
                <a:lnSpc>
                  <a:spcPts val="5864"/>
                </a:lnSpc>
                <a:buAutoNum type="arabicPeriod"/>
              </a:pPr>
              <a:r>
                <a:rPr lang="en-US" sz="418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 Hammere Shimelse                            ETS0687/17</a:t>
              </a:r>
            </a:p>
            <a:p>
              <a:pPr algn="l">
                <a:lnSpc>
                  <a:spcPts val="5864"/>
                </a:lnSpc>
              </a:pPr>
              <a:r>
                <a:rPr lang="en-US" sz="418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  2.  Hanan Fedlu                                        ETS 0696/17</a:t>
              </a:r>
            </a:p>
            <a:p>
              <a:pPr algn="l">
                <a:lnSpc>
                  <a:spcPts val="5864"/>
                </a:lnSpc>
              </a:pPr>
              <a:r>
                <a:rPr lang="en-US" sz="418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  3.  Helen Tesfaye                                     ETS 0721/17</a:t>
              </a:r>
            </a:p>
            <a:p>
              <a:pPr algn="l">
                <a:lnSpc>
                  <a:spcPts val="5864"/>
                </a:lnSpc>
              </a:pPr>
              <a:r>
                <a:rPr lang="en-US" sz="418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  4.  Ineb Hussen                                        ETS 0765/17</a:t>
              </a:r>
            </a:p>
            <a:p>
              <a:pPr algn="l">
                <a:lnSpc>
                  <a:spcPts val="5864"/>
                </a:lnSpc>
              </a:pPr>
              <a:r>
                <a:rPr lang="en-US" sz="418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  5.  Ivana Yared                                        ETS 0771/17</a:t>
              </a:r>
            </a:p>
            <a:p>
              <a:pPr algn="l">
                <a:lnSpc>
                  <a:spcPts val="5864"/>
                </a:lnSpc>
                <a:spcBef>
                  <a:spcPct val="0"/>
                </a:spcBef>
              </a:pPr>
              <a:r>
                <a:rPr lang="en-US" sz="418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  6.  Jije Israel                                             ETS 0775/17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25379" y="-123825"/>
              <a:ext cx="6956130" cy="1473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07"/>
                </a:lnSpc>
              </a:pPr>
              <a:r>
                <a:rPr lang="en-US" sz="6648">
                  <a:solidFill>
                    <a:srgbClr val="FFFFFF"/>
                  </a:solidFill>
                  <a:latin typeface="Abril Fatface"/>
                  <a:ea typeface="Abril Fatface"/>
                  <a:cs typeface="Abril Fatface"/>
                  <a:sym typeface="Abril Fatface"/>
                </a:rPr>
                <a:t>ID_num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59159" y="177562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3650" y="1204609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Background of the organization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7683" y="2645400"/>
            <a:ext cx="15969482" cy="684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Founded to support underserved communities lacking access to traditional banking services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Focuses on </a:t>
            </a:r>
            <a:r>
              <a:rPr lang="en-US" sz="3220" dirty="0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low income </a:t>
            </a: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individuals, small businesses, and rural families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Provides </a:t>
            </a:r>
            <a:r>
              <a:rPr lang="en-US" sz="3220" dirty="0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micro loans</a:t>
            </a: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savings services, and financial literacy education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Enables clients to invest in agriculture, education, and small enterprises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Expanded to serve farmers, women entrepreneurs, youth groups, and informal workers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Faces challenges due to manual paperwork and fragmented systems causing delays and inefficiency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Introducing a digital loan management system using MySQL and </a:t>
            </a:r>
            <a:r>
              <a:rPr lang="en-US" sz="3220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MongoDB</a:t>
            </a: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to improve efficiency, transparency, and data management</a:t>
            </a:r>
          </a:p>
          <a:p>
            <a:pPr algn="just">
              <a:lnSpc>
                <a:spcPts val="4508"/>
              </a:lnSpc>
              <a:spcBef>
                <a:spcPct val="0"/>
              </a:spcBef>
            </a:pPr>
            <a:endParaRPr lang="en-US" sz="3220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59159" y="177562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0328" y="2011526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Statement of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7716" y="3622350"/>
            <a:ext cx="15969482" cy="515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Relies on manual, </a:t>
            </a:r>
            <a:r>
              <a:rPr lang="en-US" sz="3220" dirty="0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paper based </a:t>
            </a: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processes for loan and savings management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Disorganized </a:t>
            </a:r>
            <a:r>
              <a:rPr lang="en-US" sz="3220" dirty="0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record keeping </a:t>
            </a: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leads to duplication, errors, and delays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Clients experience long waiting times for loan approvals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Difficulty tracking repayment schedules and identifying overdue loans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Increased risk of loan defaults affecting financial stability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Challenges in generating accurate reports for </a:t>
            </a:r>
            <a:r>
              <a:rPr lang="en-US" sz="3220" dirty="0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decision making </a:t>
            </a: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and compliance</a:t>
            </a:r>
          </a:p>
          <a:p>
            <a:pPr marL="695281" lvl="1" indent="-347640" algn="just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sz="32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System is not scalable, making it hard to manage growing client data and operations</a:t>
            </a:r>
          </a:p>
          <a:p>
            <a:pPr algn="just">
              <a:lnSpc>
                <a:spcPts val="4508"/>
              </a:lnSpc>
              <a:spcBef>
                <a:spcPct val="0"/>
              </a:spcBef>
            </a:pPr>
            <a:endParaRPr lang="en-US" sz="3220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59159" y="177562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0328" y="570230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4715" y="1940568"/>
            <a:ext cx="15028559" cy="178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General Objective</a:t>
            </a:r>
          </a:p>
          <a:p>
            <a:pPr marL="702434" lvl="1" indent="-351217" algn="just">
              <a:lnSpc>
                <a:spcPts val="4554"/>
              </a:lnSpc>
              <a:spcBef>
                <a:spcPct val="0"/>
              </a:spcBef>
              <a:buFont typeface="Arial"/>
              <a:buChar char="•"/>
            </a:pPr>
            <a:r>
              <a:rPr lang="en-US" sz="325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Develop a centralized digital database system to improve efficiency, accuracy, transparency, and scalability in loan and savings management.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0328" y="3980894"/>
            <a:ext cx="17803416" cy="537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9"/>
              </a:lnSpc>
              <a:spcBef>
                <a:spcPct val="0"/>
              </a:spcBef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Specific Objectives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Digitize Client Records – Store all client data in one system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Integrate Loan &amp; Savings Data – Link financial records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Automate Loan Processing – Simplify approvals and scheduling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Enhance Repayment Monitoring – Track and alert overdue payments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Generate Reports – Provide automated financial insights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Support Scalability – Handle growing data efficiently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Use MySQL &amp; MongoDB – Manage structured &amp; unstructured data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Improve Transparency – Ensure accurate, accessible information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59159" y="177562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0328" y="570230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Scope and Benefits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0328" y="2163459"/>
            <a:ext cx="17803416" cy="723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9"/>
              </a:lnSpc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Scope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Covers client registration, loans, repayments, and savings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Supports individual and group lending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Centralized database for all financial transactions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Combines structured (MySQL) and unstructured data (</a:t>
            </a:r>
            <a:r>
              <a:rPr lang="en-US" sz="3342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MongoDB</a:t>
            </a: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)</a:t>
            </a:r>
          </a:p>
          <a:p>
            <a:pPr algn="just">
              <a:lnSpc>
                <a:spcPts val="4679"/>
              </a:lnSpc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Benefits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Reduces errors and delays from manual processes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Faster and more efficient service for clients and staff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Improves transparency and accountability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Automated alerts help reduce loan defaults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Scalable system for future growth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Supports better </a:t>
            </a:r>
            <a:r>
              <a:rPr lang="en-US" sz="3342" dirty="0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decision making </a:t>
            </a:r>
            <a:r>
              <a:rPr lang="en-US" sz="3342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and compliance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59159" y="177562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0328" y="904875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 and Tools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0328" y="2446848"/>
            <a:ext cx="17803416" cy="7150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9"/>
              </a:lnSpc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Methodology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Analyze current system and define problems &amp; objectives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Follow phases: design → implementation → testing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Design ER diagram (Clients, Loans, Repayments, Savings, Officers)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Normalize database to BCNF for accuracy and efficiency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Test system with sample data and refine</a:t>
            </a:r>
          </a:p>
          <a:p>
            <a:pPr algn="just">
              <a:lnSpc>
                <a:spcPts val="4679"/>
              </a:lnSpc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Tools</a:t>
            </a:r>
          </a:p>
          <a:p>
            <a:pPr marL="721626" lvl="1" indent="-360813" algn="just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MySQL – Structured data (clients, loans, repayments, savings)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MongoDB – Unstructured data (documents, feedback, materials)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Google Docs – Documentation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GitHub – Version control</a:t>
            </a:r>
          </a:p>
          <a:p>
            <a:pPr marL="721626" lvl="1" indent="-360813" algn="just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Telegram – Team communication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335" y="2324371"/>
            <a:ext cx="920425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Entities &amp; Relationship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95979" y="3647664"/>
            <a:ext cx="9612963" cy="5809144"/>
            <a:chOff x="0" y="0"/>
            <a:chExt cx="1263926" cy="7637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3926" cy="763795"/>
            </a:xfrm>
            <a:custGeom>
              <a:avLst/>
              <a:gdLst/>
              <a:ahLst/>
              <a:cxnLst/>
              <a:rect l="l" t="t" r="r" b="b"/>
              <a:pathLst>
                <a:path w="1263926" h="763795">
                  <a:moveTo>
                    <a:pt x="40268" y="0"/>
                  </a:moveTo>
                  <a:lnTo>
                    <a:pt x="1223658" y="0"/>
                  </a:lnTo>
                  <a:cubicBezTo>
                    <a:pt x="1234338" y="0"/>
                    <a:pt x="1244580" y="4243"/>
                    <a:pt x="1252132" y="11794"/>
                  </a:cubicBezTo>
                  <a:cubicBezTo>
                    <a:pt x="1259684" y="19346"/>
                    <a:pt x="1263926" y="29588"/>
                    <a:pt x="1263926" y="40268"/>
                  </a:cubicBezTo>
                  <a:lnTo>
                    <a:pt x="1263926" y="723526"/>
                  </a:lnTo>
                  <a:cubicBezTo>
                    <a:pt x="1263926" y="734206"/>
                    <a:pt x="1259684" y="744449"/>
                    <a:pt x="1252132" y="752000"/>
                  </a:cubicBezTo>
                  <a:cubicBezTo>
                    <a:pt x="1244580" y="759552"/>
                    <a:pt x="1234338" y="763795"/>
                    <a:pt x="1223658" y="763795"/>
                  </a:cubicBezTo>
                  <a:lnTo>
                    <a:pt x="40268" y="763795"/>
                  </a:lnTo>
                  <a:cubicBezTo>
                    <a:pt x="29588" y="763795"/>
                    <a:pt x="19346" y="759552"/>
                    <a:pt x="11794" y="752000"/>
                  </a:cubicBezTo>
                  <a:cubicBezTo>
                    <a:pt x="4243" y="744449"/>
                    <a:pt x="0" y="734206"/>
                    <a:pt x="0" y="723526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blipFill>
              <a:blip r:embed="rId2"/>
              <a:stretch>
                <a:fillRect l="-1632" r="-495" b="-15555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8277581" flipH="1" flipV="1">
            <a:off x="1664918" y="-5781338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121831" y="682665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5"/>
                </a:lnTo>
                <a:lnTo>
                  <a:pt x="0" y="10102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146012" y="1106569"/>
            <a:ext cx="8141988" cy="8800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2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Entities: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258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Client: </a:t>
            </a: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(borrowers, savers)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258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Loan:</a:t>
            </a: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(loan details: amount, type, duration, interest rate)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Repayment:</a:t>
            </a: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(installments, due dates, payment status)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258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Savings Account:</a:t>
            </a: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(balance, deposits, withdrawals)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258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Loan Officer:</a:t>
            </a: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(staff managing loans)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258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Transaction: </a:t>
            </a: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(records of deposits, withdrawals, repayments)</a:t>
            </a:r>
          </a:p>
          <a:p>
            <a:pPr algn="l">
              <a:lnSpc>
                <a:spcPts val="3901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Relationships: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A Client can have multiple Loans.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A Loan is managed by one Loan Officer.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A Loan generates multiple Repayments.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A Client can have one or more Savings Accounts.</a:t>
            </a:r>
          </a:p>
          <a:p>
            <a:pPr marL="557037" lvl="1" indent="-278518" algn="l">
              <a:lnSpc>
                <a:spcPts val="3612"/>
              </a:lnSpc>
              <a:buFont typeface="Arial"/>
              <a:buChar char="•"/>
            </a:pPr>
            <a:r>
              <a:rPr lang="en-US" sz="258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A Transaction belongs to either a Loan Repayment or a Savings Account.</a:t>
            </a:r>
          </a:p>
          <a:p>
            <a:pPr algn="l">
              <a:lnSpc>
                <a:spcPts val="3612"/>
              </a:lnSpc>
              <a:spcBef>
                <a:spcPct val="0"/>
              </a:spcBef>
            </a:pPr>
            <a:endParaRPr lang="en-US" sz="258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00334" y="9496002"/>
            <a:ext cx="277626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4"/>
              </a:lnSpc>
              <a:spcBef>
                <a:spcPct val="0"/>
              </a:spcBef>
            </a:pPr>
            <a:r>
              <a:rPr lang="en-US" sz="2974" b="1" dirty="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ER Diagram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85257" y="2603778"/>
            <a:ext cx="12059070" cy="7345898"/>
            <a:chOff x="0" y="0"/>
            <a:chExt cx="1953893" cy="11902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3893" cy="1190233"/>
            </a:xfrm>
            <a:custGeom>
              <a:avLst/>
              <a:gdLst/>
              <a:ahLst/>
              <a:cxnLst/>
              <a:rect l="l" t="t" r="r" b="b"/>
              <a:pathLst>
                <a:path w="1953893" h="1190233">
                  <a:moveTo>
                    <a:pt x="32100" y="0"/>
                  </a:moveTo>
                  <a:lnTo>
                    <a:pt x="1921793" y="0"/>
                  </a:lnTo>
                  <a:cubicBezTo>
                    <a:pt x="1930307" y="0"/>
                    <a:pt x="1938471" y="3382"/>
                    <a:pt x="1944491" y="9402"/>
                  </a:cubicBezTo>
                  <a:cubicBezTo>
                    <a:pt x="1950511" y="15422"/>
                    <a:pt x="1953893" y="23587"/>
                    <a:pt x="1953893" y="32100"/>
                  </a:cubicBezTo>
                  <a:lnTo>
                    <a:pt x="1953893" y="1158133"/>
                  </a:lnTo>
                  <a:cubicBezTo>
                    <a:pt x="1953893" y="1175861"/>
                    <a:pt x="1939522" y="1190233"/>
                    <a:pt x="1921793" y="1190233"/>
                  </a:cubicBezTo>
                  <a:lnTo>
                    <a:pt x="32100" y="1190233"/>
                  </a:lnTo>
                  <a:cubicBezTo>
                    <a:pt x="14372" y="1190233"/>
                    <a:pt x="0" y="1175861"/>
                    <a:pt x="0" y="1158133"/>
                  </a:cubicBezTo>
                  <a:lnTo>
                    <a:pt x="0" y="32100"/>
                  </a:lnTo>
                  <a:cubicBezTo>
                    <a:pt x="0" y="14372"/>
                    <a:pt x="14372" y="0"/>
                    <a:pt x="32100" y="0"/>
                  </a:cubicBezTo>
                  <a:close/>
                </a:path>
              </a:pathLst>
            </a:custGeom>
            <a:blipFill>
              <a:blip r:embed="rId2"/>
              <a:stretch>
                <a:fillRect b="-16964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flipH="1" flipV="1">
            <a:off x="14444326" y="6695847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06236" y="82480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49094" y="1346835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5968146" y="-6695797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5722" y="1223010"/>
            <a:ext cx="6465708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Logical Schema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70194" y="318228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699506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Normalization Up To BCNF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0328" y="1887515"/>
            <a:ext cx="15923869" cy="7876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0457" lvl="1" indent="-365228" algn="l">
              <a:lnSpc>
                <a:spcPts val="4736"/>
              </a:lnSpc>
              <a:buFont typeface="Arial"/>
              <a:buChar char="•"/>
            </a:pP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1NF – All attributes are atomic (no repeating or </a:t>
            </a:r>
            <a:r>
              <a:rPr lang="en-US" sz="3383" dirty="0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multi valued 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fields)</a:t>
            </a:r>
          </a:p>
          <a:p>
            <a:pPr marL="730457" lvl="1" indent="-365228" algn="just">
              <a:lnSpc>
                <a:spcPts val="4736"/>
              </a:lnSpc>
              <a:buFont typeface="Arial"/>
              <a:buChar char="•"/>
            </a:pP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2NF – No partial dependency (single primary keys used)</a:t>
            </a:r>
          </a:p>
          <a:p>
            <a:pPr marL="730457" lvl="1" indent="-365228" algn="just">
              <a:lnSpc>
                <a:spcPts val="4736"/>
              </a:lnSpc>
              <a:buFont typeface="Arial"/>
              <a:buChar char="•"/>
            </a:pP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3NF – No transitive dependency; fixed Loan Officer issue by removing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ClientID</a:t>
            </a:r>
            <a:endParaRPr lang="en-US" sz="3383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730457" lvl="1" indent="-365228" algn="just">
              <a:lnSpc>
                <a:spcPts val="4736"/>
              </a:lnSpc>
              <a:buFont typeface="Arial"/>
              <a:buChar char="•"/>
            </a:pP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BCNF – All functional dependencies use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superkeys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(no violations)</a:t>
            </a:r>
          </a:p>
          <a:p>
            <a:pPr algn="just">
              <a:lnSpc>
                <a:spcPts val="4736"/>
              </a:lnSpc>
            </a:pP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Final Schema</a:t>
            </a:r>
          </a:p>
          <a:p>
            <a:pPr marL="730457" lvl="1" indent="-365228" algn="just">
              <a:lnSpc>
                <a:spcPts val="4736"/>
              </a:lnSpc>
              <a:buFont typeface="Arial"/>
              <a:buChar char="•"/>
            </a:pP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Client (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ClientID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FullName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Address, Phone, Email)</a:t>
            </a:r>
          </a:p>
          <a:p>
            <a:pPr marL="730457" lvl="1" indent="-365228" algn="just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Loan (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LoanID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ClientID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OfficerID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LoanAmount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InterestRate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Duration)</a:t>
            </a:r>
          </a:p>
          <a:p>
            <a:pPr marL="730457" lvl="1" indent="-365228" algn="just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Repayment (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RepaymentID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LoanID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DueDate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AmountPaid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AmountDue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Status)</a:t>
            </a:r>
          </a:p>
          <a:p>
            <a:pPr marL="730457" lvl="1" indent="-365228" algn="just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SavingAccount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(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SavingsID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ClientID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Balance,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AccountNumber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OpenDate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)</a:t>
            </a:r>
          </a:p>
          <a:p>
            <a:pPr marL="730457" lvl="1" indent="-365228" algn="just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Transaction (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TransactionID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Type, Date, Amount,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LoanID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SavingsID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)</a:t>
            </a:r>
          </a:p>
          <a:p>
            <a:pPr marL="730457" lvl="1" indent="-365228" algn="just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LoanOfficer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(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OfficerID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3383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FullName</a:t>
            </a:r>
            <a:r>
              <a:rPr lang="en-US" sz="3383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, Phone, Email)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85257" y="2603778"/>
            <a:ext cx="12059070" cy="7345898"/>
            <a:chOff x="0" y="0"/>
            <a:chExt cx="1953893" cy="11902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3893" cy="1190233"/>
            </a:xfrm>
            <a:custGeom>
              <a:avLst/>
              <a:gdLst/>
              <a:ahLst/>
              <a:cxnLst/>
              <a:rect l="l" t="t" r="r" b="b"/>
              <a:pathLst>
                <a:path w="1953893" h="1190233">
                  <a:moveTo>
                    <a:pt x="32100" y="0"/>
                  </a:moveTo>
                  <a:lnTo>
                    <a:pt x="1921793" y="0"/>
                  </a:lnTo>
                  <a:cubicBezTo>
                    <a:pt x="1930307" y="0"/>
                    <a:pt x="1938471" y="3382"/>
                    <a:pt x="1944491" y="9402"/>
                  </a:cubicBezTo>
                  <a:cubicBezTo>
                    <a:pt x="1950511" y="15422"/>
                    <a:pt x="1953893" y="23587"/>
                    <a:pt x="1953893" y="32100"/>
                  </a:cubicBezTo>
                  <a:lnTo>
                    <a:pt x="1953893" y="1158133"/>
                  </a:lnTo>
                  <a:cubicBezTo>
                    <a:pt x="1953893" y="1175861"/>
                    <a:pt x="1939522" y="1190233"/>
                    <a:pt x="1921793" y="1190233"/>
                  </a:cubicBezTo>
                  <a:lnTo>
                    <a:pt x="32100" y="1190233"/>
                  </a:lnTo>
                  <a:cubicBezTo>
                    <a:pt x="14372" y="1190233"/>
                    <a:pt x="0" y="1175861"/>
                    <a:pt x="0" y="1158133"/>
                  </a:cubicBezTo>
                  <a:lnTo>
                    <a:pt x="0" y="32100"/>
                  </a:lnTo>
                  <a:cubicBezTo>
                    <a:pt x="0" y="14372"/>
                    <a:pt x="14372" y="0"/>
                    <a:pt x="32100" y="0"/>
                  </a:cubicBezTo>
                  <a:close/>
                </a:path>
              </a:pathLst>
            </a:custGeom>
            <a:blipFill>
              <a:blip r:embed="rId2"/>
              <a:stretch>
                <a:fillRect b="-16964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flipH="1" flipV="1">
            <a:off x="14444326" y="6695847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06236" y="82480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49094" y="1346835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5968146" y="-6695797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5722" y="214947"/>
            <a:ext cx="6465708" cy="226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 dirty="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Logical Schema (cleared)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70194" y="318228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0328" y="411162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Inputs, Outputs and Reports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0328" y="1672166"/>
            <a:ext cx="15923869" cy="8614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6"/>
              </a:lnSpc>
            </a:pPr>
            <a:r>
              <a:rPr lang="en-US" sz="37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Inputs (Forms):</a:t>
            </a:r>
          </a:p>
          <a:p>
            <a:pPr marL="730457" lvl="1" indent="-365228" algn="l">
              <a:lnSpc>
                <a:spcPts val="4736"/>
              </a:lnSpc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Client Registration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Add new client details</a:t>
            </a:r>
          </a:p>
          <a:p>
            <a:pPr marL="730457" lvl="1" indent="-365228" algn="l">
              <a:lnSpc>
                <a:spcPts val="4736"/>
              </a:lnSpc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Loan Application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Record loan requests &amp; assign officer</a:t>
            </a:r>
          </a:p>
          <a:p>
            <a:pPr marL="730457" lvl="1" indent="-365228" algn="l">
              <a:lnSpc>
                <a:spcPts val="4736"/>
              </a:lnSpc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Repayment Form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Track loan payments and status</a:t>
            </a:r>
          </a:p>
          <a:p>
            <a:pPr marL="730457" lvl="1" indent="-365228" algn="l">
              <a:lnSpc>
                <a:spcPts val="4736"/>
              </a:lnSpc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Savings Account Form 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– Manage client savings accounts</a:t>
            </a:r>
          </a:p>
          <a:p>
            <a:pPr marL="730457" lvl="1" indent="-365228" algn="l">
              <a:lnSpc>
                <a:spcPts val="4736"/>
              </a:lnSpc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Transaction Form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Record deposits, withdrawals, loans</a:t>
            </a:r>
          </a:p>
          <a:p>
            <a:pPr marL="730457" lvl="1" indent="-365228" algn="l">
              <a:lnSpc>
                <a:spcPts val="4736"/>
              </a:lnSpc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Loan Officer Form 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– Manage staff information</a:t>
            </a:r>
          </a:p>
          <a:p>
            <a:pPr algn="l">
              <a:lnSpc>
                <a:spcPts val="5296"/>
              </a:lnSpc>
            </a:pPr>
            <a:r>
              <a:rPr lang="en-US" sz="37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Outputs:</a:t>
            </a:r>
          </a:p>
          <a:p>
            <a:pPr marL="730457" lvl="1" indent="-365228" algn="l">
              <a:lnSpc>
                <a:spcPts val="4736"/>
              </a:lnSpc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Client Profile 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– Client details overview</a:t>
            </a:r>
          </a:p>
          <a:p>
            <a:pPr marL="730457" lvl="1" indent="-365228" algn="l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Loan Status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Loan info (amount, interest, duration)</a:t>
            </a:r>
          </a:p>
          <a:p>
            <a:pPr marL="730457" lvl="1" indent="-365228" algn="l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Repayment Summary 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– Payment history and status</a:t>
            </a:r>
          </a:p>
          <a:p>
            <a:pPr marL="730457" lvl="1" indent="-365228" algn="l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Savings Account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Balance and account details</a:t>
            </a:r>
          </a:p>
          <a:p>
            <a:pPr marL="730457" lvl="1" indent="-365228" algn="l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Transaction History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Filtered transaction records</a:t>
            </a:r>
          </a:p>
          <a:p>
            <a:pPr marL="730457" lvl="1" indent="-365228" algn="l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Officer Assignment</a:t>
            </a: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Assigned loan officer per loan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70194" y="318228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97013" y="1204609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Inputs, Outputs and Reports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5431" y="3009946"/>
            <a:ext cx="15923869" cy="533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6"/>
              </a:lnSpc>
            </a:pPr>
            <a:r>
              <a:rPr lang="en-US" sz="41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Reports:</a:t>
            </a:r>
          </a:p>
          <a:p>
            <a:pPr marL="795225" lvl="1" indent="-397613" algn="l">
              <a:lnSpc>
                <a:spcPts val="5156"/>
              </a:lnSpc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Client Report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Client details list</a:t>
            </a:r>
          </a:p>
          <a:p>
            <a:pPr marL="795225" lvl="1" indent="-397613" algn="l">
              <a:lnSpc>
                <a:spcPts val="5156"/>
              </a:lnSpc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Loan Portfolio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Summary of all loans</a:t>
            </a:r>
          </a:p>
          <a:p>
            <a:pPr marL="795225" lvl="1" indent="-397613" algn="l">
              <a:lnSpc>
                <a:spcPts val="5156"/>
              </a:lnSpc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Repayment Report 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– Overdue loans &amp; repayment rates</a:t>
            </a:r>
          </a:p>
          <a:p>
            <a:pPr marL="795225" lvl="1" indent="-397613" algn="l">
              <a:lnSpc>
                <a:spcPts val="5156"/>
              </a:lnSpc>
              <a:spcBef>
                <a:spcPct val="0"/>
              </a:spcBef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Savings Report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Account balances and activity</a:t>
            </a:r>
          </a:p>
          <a:p>
            <a:pPr marL="795225" lvl="1" indent="-397613" algn="l">
              <a:lnSpc>
                <a:spcPts val="5156"/>
              </a:lnSpc>
              <a:spcBef>
                <a:spcPct val="0"/>
              </a:spcBef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Transaction Report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Detailed transaction records</a:t>
            </a:r>
          </a:p>
          <a:p>
            <a:pPr marL="795225" lvl="1" indent="-397613" algn="l">
              <a:lnSpc>
                <a:spcPts val="5156"/>
              </a:lnSpc>
              <a:spcBef>
                <a:spcPct val="0"/>
              </a:spcBef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Officer Performance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Loans handled &amp; performance metrics</a:t>
            </a:r>
          </a:p>
          <a:p>
            <a:pPr algn="l">
              <a:lnSpc>
                <a:spcPts val="4736"/>
              </a:lnSpc>
              <a:spcBef>
                <a:spcPct val="0"/>
              </a:spcBef>
            </a:pPr>
            <a:endParaRPr lang="en-US" sz="3683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70194" y="318228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699506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MySQL Implementation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0328" y="2144409"/>
            <a:ext cx="15923869" cy="795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6"/>
              </a:lnSpc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Implementation:</a:t>
            </a:r>
          </a:p>
          <a:p>
            <a:pPr marL="730457" lvl="1" indent="-365228" algn="l">
              <a:lnSpc>
                <a:spcPts val="4736"/>
              </a:lnSpc>
              <a:buFont typeface="Arial"/>
              <a:buChar char="•"/>
            </a:pP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system is implemented using MySQL for structured data and MongoDB for unstructured data, enabling efficient management of financial records and documents.</a:t>
            </a:r>
          </a:p>
          <a:p>
            <a:pPr algn="l">
              <a:lnSpc>
                <a:spcPts val="4736"/>
              </a:lnSpc>
            </a:pPr>
            <a:endParaRPr lang="en-US" sz="3383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5016"/>
              </a:lnSpc>
            </a:pPr>
            <a:r>
              <a:rPr lang="en-US" sz="35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MySQL Implementation (Tables):</a:t>
            </a:r>
          </a:p>
          <a:p>
            <a:pPr marL="730457" lvl="1" indent="-365228" algn="l">
              <a:lnSpc>
                <a:spcPts val="4736"/>
              </a:lnSpc>
              <a:buFont typeface="Arial"/>
              <a:buChar char="•"/>
            </a:pP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Client (ClientID, FullName, Address, Phone, Email)</a:t>
            </a:r>
          </a:p>
          <a:p>
            <a:pPr marL="730457" lvl="1" indent="-365228" algn="l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Loan (LoanID, ClientID, OfficerID, LoanAmount, InterestRate, Duration)</a:t>
            </a:r>
          </a:p>
          <a:p>
            <a:pPr marL="730457" lvl="1" indent="-365228" algn="l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Repayment (RepaymentID, LoanID, DueDate, AmountPaid, AmountDue, Status)</a:t>
            </a:r>
          </a:p>
          <a:p>
            <a:pPr marL="730457" lvl="1" indent="-365228" algn="l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SavingAccount (SavingsID, ClientID, Balance, AccountNumber, OpenDate)</a:t>
            </a:r>
          </a:p>
          <a:p>
            <a:pPr marL="730457" lvl="1" indent="-365228" algn="l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Transaction (TransactionID, Type, Date, Amount, LoanID, SavingsID)</a:t>
            </a:r>
          </a:p>
          <a:p>
            <a:pPr marL="730457" lvl="1" indent="-365228" algn="l">
              <a:lnSpc>
                <a:spcPts val="4736"/>
              </a:lnSpc>
              <a:spcBef>
                <a:spcPct val="0"/>
              </a:spcBef>
              <a:buFont typeface="Arial"/>
              <a:buChar char="•"/>
            </a:pPr>
            <a:r>
              <a:rPr lang="en-US" sz="33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LoanOfficer (OfficerID, FullName, PhoneNumber, Email)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70194" y="318228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76963" y="1730031"/>
            <a:ext cx="15923869" cy="2668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6"/>
              </a:lnSpc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MongoDB Implementation:</a:t>
            </a:r>
          </a:p>
          <a:p>
            <a:pPr marL="795225" lvl="1" indent="-397613" algn="l">
              <a:lnSpc>
                <a:spcPts val="5156"/>
              </a:lnSpc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Applications 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– Stores scanned loan application documents</a:t>
            </a:r>
          </a:p>
          <a:p>
            <a:pPr marL="795225" lvl="1" indent="-397613" algn="l">
              <a:lnSpc>
                <a:spcPts val="5156"/>
              </a:lnSpc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Feedback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Stores client feedback and suggestions</a:t>
            </a:r>
          </a:p>
          <a:p>
            <a:pPr marL="795225" lvl="1" indent="-397613" algn="l">
              <a:lnSpc>
                <a:spcPts val="5156"/>
              </a:lnSpc>
              <a:spcBef>
                <a:spcPct val="0"/>
              </a:spcBef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Handles semi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-structured and unstructured data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963" y="4466947"/>
            <a:ext cx="16934075" cy="590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6"/>
              </a:lnSpc>
              <a:spcBef>
                <a:spcPct val="0"/>
              </a:spcBef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Testing:</a:t>
            </a:r>
          </a:p>
          <a:p>
            <a:pPr marL="795225" lvl="1" indent="-397613" algn="l">
              <a:lnSpc>
                <a:spcPts val="5156"/>
              </a:lnSpc>
              <a:spcBef>
                <a:spcPct val="0"/>
              </a:spcBef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Functional Testing 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– Verified forms capture correct data and outputs</a:t>
            </a:r>
          </a:p>
          <a:p>
            <a:pPr marL="795225" lvl="1" indent="-397613" algn="l">
              <a:lnSpc>
                <a:spcPts val="5156"/>
              </a:lnSpc>
              <a:spcBef>
                <a:spcPct val="0"/>
              </a:spcBef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Query Testing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Ensured accurate SQL results (loans, savings, repayments)</a:t>
            </a:r>
          </a:p>
          <a:p>
            <a:pPr marL="795225" lvl="1" indent="-397613" algn="l">
              <a:lnSpc>
                <a:spcPts val="5156"/>
              </a:lnSpc>
              <a:spcBef>
                <a:spcPct val="0"/>
              </a:spcBef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Integration Testing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– Confirmed MySQL (structured) + MongoDB (unstructured) work together</a:t>
            </a:r>
          </a:p>
          <a:p>
            <a:pPr marL="795225" lvl="1" indent="-397613" algn="l">
              <a:lnSpc>
                <a:spcPts val="5156"/>
              </a:lnSpc>
              <a:spcBef>
                <a:spcPct val="0"/>
              </a:spcBef>
              <a:buFont typeface="Arial"/>
              <a:buChar char="•"/>
            </a:pPr>
            <a:r>
              <a:rPr lang="en-US" sz="36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Bug Tracking </a:t>
            </a:r>
            <a:r>
              <a:rPr lang="en-US" sz="36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– Fixed issues in MongoDB document structure and MySQL database selection</a:t>
            </a:r>
          </a:p>
          <a:p>
            <a:pPr algn="l">
              <a:lnSpc>
                <a:spcPts val="5156"/>
              </a:lnSpc>
              <a:spcBef>
                <a:spcPct val="0"/>
              </a:spcBef>
            </a:pPr>
            <a:endParaRPr lang="en-US" sz="3683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70194" y="318228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075603"/>
            <a:ext cx="16934075" cy="775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6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5716"/>
              </a:lnSpc>
              <a:spcBef>
                <a:spcPct val="0"/>
              </a:spcBef>
            </a:pPr>
            <a:r>
              <a:rPr lang="en-US" sz="40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Results:</a:t>
            </a:r>
          </a:p>
          <a:p>
            <a:pPr marL="838404" lvl="1" indent="-419202" algn="l">
              <a:lnSpc>
                <a:spcPts val="5436"/>
              </a:lnSpc>
              <a:spcBef>
                <a:spcPct val="0"/>
              </a:spcBef>
              <a:buFont typeface="Arial"/>
              <a:buChar char="•"/>
            </a:pPr>
            <a:r>
              <a:rPr lang="en-US" sz="38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Reduced loan approval time significantly</a:t>
            </a:r>
          </a:p>
          <a:p>
            <a:pPr marL="838404" lvl="1" indent="-419202" algn="l">
              <a:lnSpc>
                <a:spcPts val="5436"/>
              </a:lnSpc>
              <a:spcBef>
                <a:spcPct val="0"/>
              </a:spcBef>
              <a:buFont typeface="Arial"/>
              <a:buChar char="•"/>
            </a:pPr>
            <a:r>
              <a:rPr lang="en-US" sz="38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Automated repayment monitoring with alerts</a:t>
            </a:r>
          </a:p>
          <a:p>
            <a:pPr marL="838404" lvl="1" indent="-419202" algn="l">
              <a:lnSpc>
                <a:spcPts val="5436"/>
              </a:lnSpc>
              <a:spcBef>
                <a:spcPct val="0"/>
              </a:spcBef>
              <a:buFont typeface="Arial"/>
              <a:buChar char="•"/>
            </a:pPr>
            <a:r>
              <a:rPr lang="en-US" sz="38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Unified loan and savings data for better transparency</a:t>
            </a:r>
          </a:p>
          <a:p>
            <a:pPr algn="l">
              <a:lnSpc>
                <a:spcPts val="5716"/>
              </a:lnSpc>
              <a:spcBef>
                <a:spcPct val="0"/>
              </a:spcBef>
            </a:pPr>
            <a:r>
              <a:rPr lang="en-US" sz="4083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Improvements:</a:t>
            </a:r>
          </a:p>
          <a:p>
            <a:pPr marL="838404" lvl="1" indent="-419202" algn="l">
              <a:lnSpc>
                <a:spcPts val="5436"/>
              </a:lnSpc>
              <a:spcBef>
                <a:spcPct val="0"/>
              </a:spcBef>
              <a:buFont typeface="Arial"/>
              <a:buChar char="•"/>
            </a:pPr>
            <a:r>
              <a:rPr lang="en-US" sz="38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Add mobile app for client access</a:t>
            </a:r>
          </a:p>
          <a:p>
            <a:pPr marL="838404" lvl="1" indent="-419202" algn="l">
              <a:lnSpc>
                <a:spcPts val="5436"/>
              </a:lnSpc>
              <a:spcBef>
                <a:spcPct val="0"/>
              </a:spcBef>
              <a:buFont typeface="Arial"/>
              <a:buChar char="•"/>
            </a:pPr>
            <a:r>
              <a:rPr lang="en-US" sz="38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Enhance reporting with dashboard visualizations</a:t>
            </a:r>
          </a:p>
          <a:p>
            <a:pPr marL="838404" lvl="1" indent="-419202" algn="l">
              <a:lnSpc>
                <a:spcPts val="5436"/>
              </a:lnSpc>
              <a:spcBef>
                <a:spcPct val="0"/>
              </a:spcBef>
              <a:buFont typeface="Arial"/>
              <a:buChar char="•"/>
            </a:pPr>
            <a:r>
              <a:rPr lang="en-US" sz="38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Add MongoDB collection for training materials (financial literacy)</a:t>
            </a:r>
          </a:p>
          <a:p>
            <a:pPr marL="838404" lvl="1" indent="-419202" algn="l">
              <a:lnSpc>
                <a:spcPts val="5436"/>
              </a:lnSpc>
              <a:spcBef>
                <a:spcPct val="0"/>
              </a:spcBef>
              <a:buFont typeface="Arial"/>
              <a:buChar char="•"/>
            </a:pPr>
            <a:r>
              <a:rPr lang="en-US" sz="38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Implement role-based access control for security</a:t>
            </a:r>
          </a:p>
          <a:p>
            <a:pPr algn="l">
              <a:lnSpc>
                <a:spcPts val="5436"/>
              </a:lnSpc>
              <a:spcBef>
                <a:spcPct val="0"/>
              </a:spcBef>
            </a:pPr>
            <a:endParaRPr lang="en-US" sz="3883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458202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Results and Improvements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80399" y="-5913741"/>
            <a:ext cx="8476180" cy="8229600"/>
          </a:xfrm>
          <a:custGeom>
            <a:avLst/>
            <a:gdLst/>
            <a:ahLst/>
            <a:cxnLst/>
            <a:rect l="l" t="t" r="r" b="b"/>
            <a:pathLst>
              <a:path w="8476180" h="8229600">
                <a:moveTo>
                  <a:pt x="847618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476180" y="0"/>
                </a:lnTo>
                <a:lnTo>
                  <a:pt x="8476180" y="8229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70194" y="318228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5" y="0"/>
                </a:lnTo>
                <a:lnTo>
                  <a:pt x="1010205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54197" y="4133294"/>
            <a:ext cx="1010206" cy="1010206"/>
          </a:xfrm>
          <a:custGeom>
            <a:avLst/>
            <a:gdLst/>
            <a:ahLst/>
            <a:cxnLst/>
            <a:rect l="l" t="t" r="r" b="b"/>
            <a:pathLst>
              <a:path w="1010206" h="1010206">
                <a:moveTo>
                  <a:pt x="0" y="0"/>
                </a:moveTo>
                <a:lnTo>
                  <a:pt x="1010206" y="0"/>
                </a:lnTo>
                <a:lnTo>
                  <a:pt x="1010206" y="1010206"/>
                </a:lnTo>
                <a:lnTo>
                  <a:pt x="0" y="101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537755"/>
            <a:ext cx="13380011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0328" y="2801177"/>
            <a:ext cx="15923869" cy="701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0" lvl="1" indent="-421005" algn="l">
              <a:lnSpc>
                <a:spcPts val="5459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Inputs (Forms) – Capture raw data into the system</a:t>
            </a:r>
          </a:p>
          <a:p>
            <a:pPr marL="842010" lvl="1" indent="-421005" algn="l">
              <a:lnSpc>
                <a:spcPts val="5459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Outputs – Provide instant information to users</a:t>
            </a:r>
          </a:p>
          <a:p>
            <a:pPr marL="842010" lvl="1" indent="-421005" algn="l">
              <a:lnSpc>
                <a:spcPts val="5459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Reports – Deliver summaries for management </a:t>
            </a:r>
            <a:r>
              <a:rPr lang="en-US" sz="3900" dirty="0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decision making</a:t>
            </a:r>
            <a:endParaRPr lang="en-US" sz="3900" dirty="0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42010" lvl="1" indent="-421005" algn="l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Together, they ensure efficiency, data integrity, and consistency</a:t>
            </a:r>
          </a:p>
          <a:p>
            <a:pPr marL="842010" lvl="1" indent="-421005" algn="l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system successfully digitized </a:t>
            </a:r>
            <a:r>
              <a:rPr lang="en-US" sz="3900" dirty="0" err="1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Ethio</a:t>
            </a:r>
            <a:r>
              <a:rPr lang="en-US" sz="3900" dirty="0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900" dirty="0" err="1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MicroLend</a:t>
            </a:r>
            <a:r>
              <a:rPr lang="en-US" sz="3900" dirty="0" smtClean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9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operations</a:t>
            </a:r>
          </a:p>
          <a:p>
            <a:pPr marL="842010" lvl="1" indent="-421005" algn="l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MySQL manages structured financial data efficiently</a:t>
            </a:r>
          </a:p>
          <a:p>
            <a:pPr marL="842010" lvl="1" indent="-421005" algn="l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sz="3900" dirty="0" err="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MongoDB</a:t>
            </a:r>
            <a:r>
              <a:rPr lang="en-US" sz="39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handles flexible unstructured data</a:t>
            </a:r>
          </a:p>
          <a:p>
            <a:pPr marL="842010" lvl="1" indent="-421005" algn="l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combined system improves scalability, transparency, and efficiency, supporting financial inclusion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1206</Words>
  <Application>Microsoft Office PowerPoint</Application>
  <PresentationFormat>Custom</PresentationFormat>
  <Paragraphs>158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Agrandir Medium</vt:lpstr>
      <vt:lpstr>Abril Fatface</vt:lpstr>
      <vt:lpstr>Agrandir Bold</vt:lpstr>
      <vt:lpstr>Agrandir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BASE</dc:title>
  <cp:lastModifiedBy>lenovo</cp:lastModifiedBy>
  <cp:revision>2</cp:revision>
  <dcterms:created xsi:type="dcterms:W3CDTF">2006-08-16T00:00:00Z</dcterms:created>
  <dcterms:modified xsi:type="dcterms:W3CDTF">2026-05-05T09:01:25Z</dcterms:modified>
  <dc:identifier>DAHIvAfB7oA</dc:identifier>
</cp:coreProperties>
</file>